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9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82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Journey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Integrated Platform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7160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เส้นทางการใช้งานระบบ ตั้งแต่รับ Lead จนถึงปิดการขาย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ภาพรวมระบบ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ระบบช่วยให้ทีมขาย Solar ทำงานในที่เดียว ตั้งแต่รับ lead จนถึงปิดการขาย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914400" cy="777240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 Lead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89888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1389888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วิเคราะห์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ศักยภาพ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04288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9736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2459736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นัดเข้าพบ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74136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9584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3529584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ออกใบ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เสนอราคา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3984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9432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4599432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ขออนุมัติ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13832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566928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ส่งเอกสาร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39128" y="1828800"/>
            <a:ext cx="914400" cy="777240"/>
          </a:xfrm>
          <a:prstGeom prst="rect">
            <a:avLst/>
          </a:prstGeom>
          <a:solidFill>
            <a:srgbClr val="1A1A2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6739128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เซ็น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53528" y="1828800"/>
            <a:ext cx="155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7575"/>
                </a:solidFill>
              </a:rPr>
              <a:t>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08976" y="1828800"/>
            <a:ext cx="914400" cy="777240"/>
          </a:xfrm>
          <a:prstGeom prst="rect">
            <a:avLst/>
          </a:prstGeom>
          <a:solidFill>
            <a:srgbClr val="FF8F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7808976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ปิดการขาย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จุดที่ระบบช่วยให้ทีมทำงานดีขึ้น</a:t>
            </a:r>
            <a:endParaRPr lang="en-US" sz="18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1188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ข้อมูลลูกค้าไม่กระจายหลายที่</a:t>
            </a:r>
            <a:endParaRPr lang="en-US" sz="11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61188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033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ทีมขายไม่ต้องคำนวณ Solar เอง</a:t>
            </a:r>
            <a:endParaRPr lang="en-US" sz="11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611880"/>
            <a:ext cx="320040" cy="3200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3796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การนัดเข้าพบและ follow-up เป็นระบบ</a:t>
            </a:r>
            <a:endParaRPr lang="en-US" sz="11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51960"/>
            <a:ext cx="320040" cy="3200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สร้างใบเสนอราคาเร็วขึ้น</a:t>
            </a:r>
            <a:endParaRPr lang="en-US" sz="11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425196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0332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การอนุมัติส่วนลดโปร่งใส</a:t>
            </a:r>
            <a:endParaRPr lang="en-US" sz="11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25196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53796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ผู้บริหารเห็นภาพรวมแบบ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ผู้ใช้หลักในระบบ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64592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27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รับผิดชอบ lead, ดูข้อมูลลูกค้า,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Solar Calculator, สร้างใบเสนอราคา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188720"/>
            <a:ext cx="2606040" cy="164592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1" name="Shape 8"/>
          <p:cNvSpPr/>
          <p:nvPr/>
        </p:nvSpPr>
        <p:spPr>
          <a:xfrm>
            <a:off x="3337560" y="1188720"/>
            <a:ext cx="54864" cy="16459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9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52704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Manager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66160" y="2057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ดูภาพรวมทีม, มอบหมาย lead,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 pipeline, อนุมัติส่วนลด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606040" cy="164592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Shape 13"/>
          <p:cNvSpPr/>
          <p:nvPr/>
        </p:nvSpPr>
        <p:spPr>
          <a:xfrm>
            <a:off x="6217920" y="1188720"/>
            <a:ext cx="54864" cy="1645920"/>
          </a:xfrm>
          <a:prstGeom prst="rect">
            <a:avLst/>
          </a:prstGeom>
          <a:solidFill>
            <a:srgbClr val="4242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Shape 14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rgbClr val="424242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5270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8660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2057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package, ตั้งค่า running number,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import/export ข้อมูล, ควบคุมสิทธิ์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108960"/>
            <a:ext cx="2606040" cy="164592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3" name="Shape 18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4" name="Shape 19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44728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85800" y="3977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อนุมัติข้อเสนอที่เกินสิทธิ์,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ลงนามเอกสารในขั้นสูง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37560" y="3108960"/>
            <a:ext cx="2606040" cy="164592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9" name="Shape 23"/>
          <p:cNvSpPr/>
          <p:nvPr/>
        </p:nvSpPr>
        <p:spPr>
          <a:xfrm>
            <a:off x="3337560" y="3108960"/>
            <a:ext cx="54864" cy="164592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Shape 24"/>
          <p:cNvSpPr/>
          <p:nvPr/>
        </p:nvSpPr>
        <p:spPr>
          <a:xfrm>
            <a:off x="3566160" y="3337560"/>
            <a:ext cx="502920" cy="502920"/>
          </a:xfrm>
          <a:prstGeom prst="ellipse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888" y="3447288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0624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566160" y="3977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รับใบเสนอราคา, ตรวจสอบรายละเอียด,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เซ็นเอกสารผ่าน iPad หรือ web link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จาก Lead ไปสู่การออกใบเสนอราคา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เปลี่ยนรายชื่อลูกค้าใหม่ ให้กลายเป็นโอกาสขายที่พร้อมเสนอราคา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นำเข้าข้อมูลลูกค้าเข้าระบบ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73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ระบบแสดงข้อมูลลูกค้า (ชื่อ, ประเภท, พื้นที่, ประวัติใช้ไฟ)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เปิดดูข้อมูลในหน้า CRM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45720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511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ระบบช่วยประเมินศักยภาพของ lead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990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เปลี่ยนสถานะจาก New Lead → Qualified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 Solar Calculator คำนวณขนาดระบบ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8679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ระบบแนะนำขนาดติดตั้ง, ROI, payback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34256"/>
            <a:ext cx="292608" cy="292608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45720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068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นัดหมายเข้าพบลูกค้า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234440"/>
            <a:ext cx="3474720" cy="2743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ผลลัพธ์</a:t>
            </a:r>
            <a:endParaRPr lang="en-US" sz="16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92024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1722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ลูกค้าถูกคัดกรองแล้ว</a:t>
            </a:r>
            <a:endParaRPr lang="en-US" sz="12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514600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722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sizing เบื้องต้น</a:t>
            </a:r>
            <a:endParaRPr lang="en-US" sz="12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10896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1722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พร้อมเข้าสู่ขั้นตอนนัดเข้าพบ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การเข้าพบลูกค้าและเก็บข้อมูลหน้างาน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เก็บข้อมูลหน้างานอย่างมีโครงสร้าง และใช้ข้อมูลนั้นต่อยอดไปสู่การขายจริง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สร้างแผนเข้าพบในระบบ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078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57200" y="1700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733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ระบุวันเวลา สถานที่ และวัตถุประสงค์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5720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ระบบเปลี่ยนสถานะ lead เป็น Scheduled Visit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457200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5511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บันทึกผลการคุยกับลูกค้า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9900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แนบรูปหน้างาน / บันทึกข้อจำกัด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ระบุ outcome (สนใจ / follow up / ไม่สนใจ / พร้อมเสนอราคา)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95344"/>
            <a:ext cx="292608" cy="29260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38679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ระบบบันทึก next action และวัน follow-up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34256"/>
            <a:ext cx="292608" cy="292608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45720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3068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ขยับ lead ไป Visited หรือ Negotiation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234440"/>
            <a:ext cx="3474720" cy="2743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ผลลัพธ์</a:t>
            </a:r>
            <a:endParaRPr lang="en-US" sz="16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92024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1722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มีบันทึกการเข้าพบย้อนหลัง</a:t>
            </a:r>
            <a:endParaRPr lang="en-US" sz="12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514600"/>
            <a:ext cx="365760" cy="36576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7220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 next step ชัดเจน</a:t>
            </a:r>
            <a:endParaRPr lang="en-US" sz="12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10896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1722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ลดการหลุดงานและลืมติดตาม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การสร้างใบเสนอราคา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สร้างใบเสนอราคาได้เร็ว ลดงาน manual และลดความผิดพลาด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เลือกลูกค้าที่ผ่านการคัดกรอง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package Solar จากข้อมูลกลาง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ระบบดึงราคา, ขนาดระบบ, จำนวนแผง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ใส่ discount ตามสิทธิ์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47548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ระบบคำนวณราคารวมอัตโนมัติ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78308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47548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สร้างเลขเอกสาร running number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47548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quotation เป็น revision ใหม่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931920" cy="118872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64008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ส่วนลดไม่เกินสิทธิ์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 proposal ให้ลูกค้าได้ทันที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ส่วนลดเกินสิทธิ์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ระบบบังคับเข้า Approval 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การอนุมัติส่วนลดหรือเงื่อนไขพิเศษ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ควบคุมการอนุมัติให้ชัดเจน ป้องกันการลดราคาเกินสิทธิ์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737360" cy="822960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ปรับ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</a:rPr>
              <a:t>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737360" cy="822960"/>
          </a:xfrm>
          <a:prstGeom prst="rect">
            <a:avLst/>
          </a:prstGeom>
          <a:solidFill>
            <a:srgbClr val="16213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256032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ระบบตรวจสอบ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สิทธิ์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737360" cy="822960"/>
          </a:xfrm>
          <a:prstGeom prst="rect">
            <a:avLst/>
          </a:prstGeom>
          <a:solidFill>
            <a:srgbClr val="FF8F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280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</a:rPr>
              <a:t>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0" y="1280160"/>
            <a:ext cx="1737360" cy="822960"/>
          </a:xfrm>
          <a:prstGeom prst="rect">
            <a:avLst/>
          </a:prstGeom>
          <a:solidFill>
            <a:srgbClr val="1B5E2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69494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3931920" cy="20116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 Approved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ระบบส่งต่อให้ Sales ส่ง proposal ได้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ระบบเก็บ audit trail (ใคร, เมื่อไร, เหตุผล)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สามารถใส่ comment เพิ่มได้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3931920" cy="2011680"/>
          </a:xfrm>
          <a:prstGeom prst="rect">
            <a:avLst/>
          </a:prstGeom>
          <a:solidFill>
            <a:srgbClr val="FDE8E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1" name="Text 19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 Rejected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154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ระบบกลับไปให้ Sales ปรับราคาใหม่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ลดความเสี่ยงเรื่อง pricing policy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ตรวจสอบย้อนหลังได้ทุกรายการ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solidFill>
            <a:srgbClr val="FF8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ลูกค้ารับเอกสารและเซ็น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ปิดการขายเร็วขึ้น โดยไม่ต้องพึ่งเอกสารกระดาษ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1600200"/>
            <a:ext cx="36576" cy="594360"/>
          </a:xfrm>
          <a:prstGeom prst="rect">
            <a:avLst/>
          </a:prstGeom>
          <a:solidFill>
            <a:srgbClr val="BDBDB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7" name="Shape 5"/>
          <p:cNvSpPr/>
          <p:nvPr/>
        </p:nvSpPr>
        <p:spPr>
          <a:xfrm>
            <a:off x="886968" y="1298448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88696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ส่ง proposal ให้ลูกค้า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 → Proposal Sent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313432"/>
            <a:ext cx="36576" cy="594360"/>
          </a:xfrm>
          <a:prstGeom prst="rect">
            <a:avLst/>
          </a:prstGeom>
          <a:solidFill>
            <a:srgbClr val="BDBDB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2" name="Shape 10"/>
          <p:cNvSpPr/>
          <p:nvPr/>
        </p:nvSpPr>
        <p:spPr>
          <a:xfrm>
            <a:off x="886968" y="201168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3" name="Text 11"/>
          <p:cNvSpPr/>
          <p:nvPr/>
        </p:nvSpPr>
        <p:spPr>
          <a:xfrm>
            <a:off x="88696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ลูกค้าตรวจสอบ package และราคา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3026664"/>
            <a:ext cx="36576" cy="594360"/>
          </a:xfrm>
          <a:prstGeom prst="rect">
            <a:avLst/>
          </a:prstGeom>
          <a:solidFill>
            <a:srgbClr val="BDBDB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886968" y="2724912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886968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ลูกค้าเซ็นผ่าน iPad หรือ web link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29809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ระบบบันทึกชื่อ, ลายเซ็น, วันเวลา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36576" cy="594360"/>
          </a:xfrm>
          <a:prstGeom prst="rect">
            <a:avLst/>
          </a:prstGeom>
          <a:solidFill>
            <a:srgbClr val="BDBDBD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886968" y="3438144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886968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4198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เอกสารถูกล็อก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36941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ป้องกันแก้ไขย้อนหลัง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6968" y="4151376"/>
            <a:ext cx="365760" cy="365760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886968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4133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สถานะเปลี่ยนเป็น Closed Won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407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มีหลักฐานอ้างอิงในระบบ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280160"/>
            <a:ext cx="3108960" cy="32004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566928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ผลลัพธ์</a:t>
            </a:r>
            <a:endParaRPr lang="en-US" sz="16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29968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400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ลดเวลาจากเสนอราคาถึงปิดการขาย</a:t>
            </a:r>
            <a:endParaRPr lang="en-US" sz="11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70048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4008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ลายเซ็นผูกกับเอกสารชัดเจน</a:t>
            </a:r>
            <a:endParaRPr lang="en-US" sz="11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310128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40080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มีหลักฐานอ้างอิงในระบบ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Manager Dashboard &amp; Admin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35661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F: Manager ติดตามผลงาน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ดูจำนวน lead ทั้งหมดและตาม stage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ดูมูลค่า quotation ที่ออกแล้ว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ดูยอดปิดการขาย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 approval queue ที่ค้าง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ดูผลงานราย salesperson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ดูพื้นที่/กลุ่มลูกค้าศักยภาพสูง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มอบหมายงาน / เร่ง follow-up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6" name="Shape 13"/>
          <p:cNvSpPr/>
          <p:nvPr/>
        </p:nvSpPr>
        <p:spPr>
          <a:xfrm>
            <a:off x="4663440" y="1097280"/>
            <a:ext cx="4114800" cy="5486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G: Admin ดูแลข้อมูลกลาง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จัดการ package Solar (เปิด/ปิด)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920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อัปเดตราคา promotion / inverter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ตั้งค่าเลข running number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92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Import ลูกค้า / ข้อมูลใช้ไฟจาก Excel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9204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Export ข้อมูลเพื่อรายงานหรือ backup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8920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ควบคุมสิทธิ์ผู้ใช้งานตาม role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สถานะของ Lead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56032" cy="256032"/>
          </a:xfrm>
          <a:prstGeom prst="ellipse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Lead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มีรายชื่อลูกค้าเข้ามา ยังไม่ได้คัดกรอง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256032" cy="256032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Qualified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ตรวจสอบเบื้องต้นแล้ว เหมาะที่จะคุยต่อ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256032" cy="256032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Scheduled Visit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มีการนัดเข้าพบเรียบร้อย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38728"/>
            <a:ext cx="256032" cy="256032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82296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เข้าพบแล้ว มีข้อมูลหน้างาน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256032" cy="256032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 Sent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498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ออกใบเสนอราคาและส่งลูกค้าแล้ว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07008"/>
            <a:ext cx="256032" cy="256032"/>
          </a:xfrm>
          <a:prstGeom prst="ellipse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51206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Pending Approval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เอกสาร/ส่วนลดรอคนอนุมัติ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984248"/>
            <a:ext cx="256032" cy="256032"/>
          </a:xfrm>
          <a:prstGeom prst="ellipse">
            <a:avLst/>
          </a:prstGeom>
          <a:solidFill>
            <a:srgbClr val="FFA0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512064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Negotiation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อยู่ระหว่างเจรจาหรือรอติดตามผล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761488"/>
            <a:ext cx="256032" cy="25603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512064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Closed Won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20640" y="2944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ปิดการขายสำเร็จ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538728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512064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Closed Lost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3721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ปิดการขายไม่สำเร็จ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ตัวอย่าง: หนึ่งดีลตั้งแต่ต้นจนจบ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"โรงงานน้ำดื่มทักษิณ"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5" name="Text 3"/>
          <p:cNvSpPr/>
          <p:nvPr/>
        </p:nvSpPr>
        <p:spPr>
          <a:xfrm>
            <a:off x="457200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 lead ใหม่เข้ามา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ดูประวัติใช้ไฟย้อนหลัง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45720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ระบบแนะนำขนาดติดตั้ง ~66 kW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45720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072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นัดเข้าพบดูพื้นที่หลังคา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45720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ลูกค้าอยากได้ข้อเสนอเป็นทางการ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33672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0" name="Text 18"/>
          <p:cNvSpPr/>
          <p:nvPr/>
        </p:nvSpPr>
        <p:spPr>
          <a:xfrm>
            <a:off x="457200" y="4233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เลือก package และสร้าง quotation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399032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3" name="Text 21"/>
          <p:cNvSpPr/>
          <p:nvPr/>
        </p:nvSpPr>
        <p:spPr>
          <a:xfrm>
            <a:off x="4846320" y="1399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ลูกค้าขอส่วนลด → ส่งอนุมัติ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9659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84632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อนุมัติ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532888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484632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ส่ง proposal กลับ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099816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484632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072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ลูกค้าเซ็นเอกสาร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666744"/>
            <a:ext cx="320040" cy="320040"/>
          </a:xfrm>
          <a:prstGeom prst="ellipse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5" name="Text 33"/>
          <p:cNvSpPr/>
          <p:nvPr/>
        </p:nvSpPr>
        <p:spPr>
          <a:xfrm>
            <a:off x="484632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 ✓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หน้าจอที่แนะนำสำหรับงานออกแบบ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 pipeline และ KPIs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54864" cy="59436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/ Lead 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รายชื่อลูกค้าและสถานะ lead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3" name="Shape 11"/>
          <p:cNvSpPr/>
          <p:nvPr/>
        </p:nvSpPr>
        <p:spPr>
          <a:xfrm>
            <a:off x="457200" y="1847088"/>
            <a:ext cx="54864" cy="5943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64008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Detail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1671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ข้อมูลลูกค้า ประวัติใช้ไฟ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47088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17" name="Shape 15"/>
          <p:cNvSpPr/>
          <p:nvPr/>
        </p:nvSpPr>
        <p:spPr>
          <a:xfrm>
            <a:off x="4754880" y="1847088"/>
            <a:ext cx="54864" cy="594360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4937760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Calculator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1671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คำนวณขนาดระบบ ROI payback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457200" y="2596896"/>
            <a:ext cx="54864" cy="59436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64008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 Planning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วางแผนและบันทึกการเข้าพบ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96896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54864" cy="594360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4937760" y="2642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9169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รายงานผลการเข้าพบ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46704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29" name="Shape 27"/>
          <p:cNvSpPr/>
          <p:nvPr/>
        </p:nvSpPr>
        <p:spPr>
          <a:xfrm>
            <a:off x="457200" y="3346704"/>
            <a:ext cx="54864" cy="594360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0" name="Text 28"/>
          <p:cNvSpPr/>
          <p:nvPr/>
        </p:nvSpPr>
        <p:spPr>
          <a:xfrm>
            <a:off x="64008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Quotation Detail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6667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สร้างและจัดการใบเสนอราคา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346704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3" name="Shape 31"/>
          <p:cNvSpPr/>
          <p:nvPr/>
        </p:nvSpPr>
        <p:spPr>
          <a:xfrm>
            <a:off x="4754880" y="3346704"/>
            <a:ext cx="54864" cy="594360"/>
          </a:xfrm>
          <a:prstGeom prst="rect">
            <a:avLst/>
          </a:prstGeom>
          <a:solidFill>
            <a:srgbClr val="F4511E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493776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Approval Queue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6667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รายการรออนุมัติ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37" name="Shape 35"/>
          <p:cNvSpPr/>
          <p:nvPr/>
        </p:nvSpPr>
        <p:spPr>
          <a:xfrm>
            <a:off x="457200" y="4096512"/>
            <a:ext cx="54864" cy="59436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38" name="Text 36"/>
          <p:cNvSpPr/>
          <p:nvPr/>
        </p:nvSpPr>
        <p:spPr>
          <a:xfrm>
            <a:off x="640080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4165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เซ็นเอกสาร digital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96512"/>
            <a:ext cx="3931920" cy="5943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h-TH"/>
          </a:p>
        </p:txBody>
      </p:sp>
      <p:sp>
        <p:nvSpPr>
          <p:cNvPr id="41" name="Shape 39"/>
          <p:cNvSpPr/>
          <p:nvPr/>
        </p:nvSpPr>
        <p:spPr>
          <a:xfrm>
            <a:off x="4754880" y="4096512"/>
            <a:ext cx="54864" cy="594360"/>
          </a:xfrm>
          <a:prstGeom prst="rect">
            <a:avLst/>
          </a:prstGeom>
          <a:solidFill>
            <a:srgbClr val="424242"/>
          </a:solidFill>
          <a:ln/>
        </p:spPr>
        <p:txBody>
          <a:bodyPr/>
          <a:lstStyle/>
          <a:p>
            <a:endParaRPr lang="th-TH"/>
          </a:p>
        </p:txBody>
      </p:sp>
      <p:sp>
        <p:nvSpPr>
          <p:cNvPr id="42" name="Text 40"/>
          <p:cNvSpPr/>
          <p:nvPr/>
        </p:nvSpPr>
        <p:spPr>
          <a:xfrm>
            <a:off x="4937760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Package Management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44165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package Solar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th-T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Integrated Platform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ทีมขายทำงานเร็วขึ้น  |  Pipeline ชัดขึ้น  |  เอกสารผิดพลาดน้อยลง  |  ปิดการขายเร็วขึ้น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1022</Words>
  <Application>Microsoft Macintosh PowerPoint</Application>
  <PresentationFormat>นำเสนอทางหน้าจอ (16:9)</PresentationFormat>
  <Paragraphs>250</Paragraphs>
  <Slides>13</Slides>
  <Notes>13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Journey: Solar Integrated Platform</dc:title>
  <dc:subject>PptxGenJS Presentation</dc:subject>
  <dc:creator>Solar Integrated Platform</dc:creator>
  <cp:lastModifiedBy>ศักดิธัช รักษายศ</cp:lastModifiedBy>
  <cp:revision>2</cp:revision>
  <dcterms:created xsi:type="dcterms:W3CDTF">2026-03-30T07:11:19Z</dcterms:created>
  <dcterms:modified xsi:type="dcterms:W3CDTF">2026-03-30T07:13:53Z</dcterms:modified>
</cp:coreProperties>
</file>